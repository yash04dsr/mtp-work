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Hydrogen Injection in Natural Gas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BB"/>
                </a:solidFill>
              </a:defRPr>
            </a:pPr>
            <a:r>
              <a:t>Parametric CFD Study: Effect of Injection Angle and Side</a:t>
            </a:r>
            <a:br/>
            <a:r>
              <a:t>on Mixing Quality and Pressure 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Yash Sakhare  |  2022CH71496  |  CLD 880 Minor Project</a:t>
            </a:r>
            <a:br/>
            <a:r>
              <a:t>Supervisor: Prof. Abhijeet Raj  |  Department of Chemical Engineering, IIT Delhi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54B0"/>
                </a:solidFill>
              </a:defRPr>
            </a:pPr>
            <a:r>
              <a:t>40 simulations  ·  4 campaigns  ·  rhoReactingBuoyantFoam + k-ω SST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Hydrogen blending into high-pressure CH₄ pipelines requires uniform mixing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  to avoid combustion hazards and metering errors (target: CoV ≤ 0.05)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Key question: How do injection angle (30° vs 90°) and injection side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  (top vs bottom) affect mixing quality and pumping cost?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Parametric study: 4 campaigns × 10 Latin-Hypercube-sampled cases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  varying d/D (0.20–0.45) and VR (0.7–5.8) at fixed Re_D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Solver: rhoReactingBuoyantFoam (compressible, buoyant, multispecies)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  with k-ω SST turbulence, half-domain symmetry, adaptive time-stepping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Campaign Overview: 40 Valid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54B0"/>
                </a:solidFill>
                <a:latin typeface="Courier New"/>
              </a:defRPr>
            </a:pPr>
            <a:r>
              <a:t>Campaign         Valid Cases    CoV median    CoV range          |ΔP| median (kPa)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ourier New"/>
              </a:defRPr>
            </a:pPr>
            <a:r>
              <a:t>90° top                 8              0.424         0.066 – 0.707            1.05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ourier New"/>
              </a:defRPr>
            </a:pPr>
            <a:r>
              <a:t>30° top                 9              0.298         0.005 – 0.390            0.53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ourier New"/>
              </a:defRPr>
            </a:pPr>
            <a:r>
              <a:t>90° bottom          13              0.392         0.172 – 1.104            1.58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ourier New"/>
              </a:defRPr>
            </a:pPr>
            <a:r>
              <a:t>30° bottom          10              1.048         0.232 – 1.343            1.02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AAAAAA"/>
                </a:solidFill>
              </a:defRPr>
            </a:pPr>
            <a:r>
              <a:t>▸  CoV = σ(Y_H2)/⟨Y_H2⟩ at outlet (area-weighted). Lower = better mixing.</a:t>
            </a:r>
          </a:p>
          <a:p>
            <a:pPr>
              <a:spcAft>
                <a:spcPts val="1000"/>
              </a:spcAft>
              <a:defRPr sz="1600">
                <a:solidFill>
                  <a:srgbClr val="AAAAAA"/>
                </a:solidFill>
              </a:defRPr>
            </a:pPr>
            <a:r>
              <a:t>▸  |ΔP| = LP-filtered (moving-average, 0.10s width, mean on [0.4, 1.2]s window).</a:t>
            </a:r>
          </a:p>
          <a:p>
            <a:pPr>
              <a:spcAft>
                <a:spcPts val="1000"/>
              </a:spcAft>
              <a:defRPr sz="1600">
                <a:solidFill>
                  <a:srgbClr val="AAAAAA"/>
                </a:solidFill>
              </a:defRPr>
            </a:pPr>
            <a:r>
              <a:t>▸  Excluded: 90° top cases 01–02 (mesh defect), 30° top case 04 (incomplete).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Mixing Quality vs Velocity Ratio</a:t>
            </a:r>
          </a:p>
        </p:txBody>
      </p:sp>
      <p:pic>
        <p:nvPicPr>
          <p:cNvPr id="3" name="Picture 2" descr="fig1_CoV_vs_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50037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VR is the dominant control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variable across ALL campaigns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Power-law fit CoV = A·VR^b: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90° top:  b = −1.16 (R²=0.80)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30° top:  b = −1.88 (R²=0.80)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90° bot:  b = −0.91 (R²=0.90)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30° bot:  b = −0.72 (R²=0.72)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Top injection has steeper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exponents → VR buys more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mixing from the top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Only 30° top reaches the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industrial CoV ≤ 0.05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Top vs Bottom: Matched-Pair Comparison</a:t>
            </a:r>
          </a:p>
        </p:txBody>
      </p:sp>
      <p:pic>
        <p:nvPicPr>
          <p:cNvPr id="3" name="Picture 2" descr="fig2_matched_pairs_top_vs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37319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17 matched pairs (same d/D, VR)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Top wins in ALL 17 pairs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(p = 2⁻¹⁷ = 1.5×10⁻⁵)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90°: median +109% CoV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(bottom mixes ~2× worse)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30°: median +324% CoV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(bottom mixes ~4× worse)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Bottom injection is strictly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dominated at every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Visual Evidence: Case 04 (d/D=0.252, VR=3.81, 90°)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A02C"/>
                </a:solidFill>
              </a:defRPr>
            </a:pPr>
            <a:r>
              <a:t>TOP injection — CoV = 0.066</a:t>
            </a:r>
          </a:p>
        </p:txBody>
      </p:sp>
      <p:pic>
        <p:nvPicPr>
          <p:cNvPr id="4" name="Picture 3" descr="fig_H2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114300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62728"/>
                </a:solidFill>
              </a:defRPr>
            </a:pPr>
            <a:r>
              <a:t>BOTTOM injection — CoV = 0.271</a:t>
            </a:r>
          </a:p>
        </p:txBody>
      </p:sp>
      <p:pic>
        <p:nvPicPr>
          <p:cNvPr id="6" name="Picture 5" descr="fig_H2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49039"/>
            <a:ext cx="11430000" cy="285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Top: jet spreads laterally → uniform by z = 5m.  Bottom: coherent mushroom plume → concentration gradient persists.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Visual Evidence: Case 08 (d/D=0.382, VR=0.69, 90°)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A02C"/>
                </a:solidFill>
              </a:defRPr>
            </a:pPr>
            <a:r>
              <a:t>TOP injection — CoV = 0.707</a:t>
            </a:r>
          </a:p>
        </p:txBody>
      </p:sp>
      <p:pic>
        <p:nvPicPr>
          <p:cNvPr id="4" name="Picture 3" descr="fig_H2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114300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62728"/>
                </a:solidFill>
              </a:defRPr>
            </a:pPr>
            <a:r>
              <a:t>BOTTOM injection — CoV = 0.911</a:t>
            </a:r>
          </a:p>
        </p:txBody>
      </p:sp>
      <p:pic>
        <p:nvPicPr>
          <p:cNvPr id="6" name="Picture 5" descr="fig_H2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49039"/>
            <a:ext cx="11430000" cy="285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Low VR: neither mixes well, but bottom creates buoyancy-driven stratification (two-layer structure at outlet).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Physical Mechanism: Why Top Injection Wins</a:t>
            </a:r>
          </a:p>
        </p:txBody>
      </p:sp>
      <p:pic>
        <p:nvPicPr>
          <p:cNvPr id="3" name="Picture 2" descr="fig6_mechanism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0053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035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Top: buoyancy OPPOSES the jet → plume flattens at crown → large interfacial area → rapid diffusion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Bottom: buoyancy ASSISTS the jet → plume rises as coherent column → small area → poor diffusion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Consistent with Ri-based stratification physics: at Ri &gt;&gt; 1, buoyancy suppresses lateral spreading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Pareto Front: Mixing vs Pressure Drop</a:t>
            </a:r>
          </a:p>
        </p:txBody>
      </p:sp>
      <p:pic>
        <p:nvPicPr>
          <p:cNvPr id="3" name="Picture 2" descr="fig3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5052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Lower-left = simultaneously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cheap and well-mixed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Top-injection points cluster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in the desirable region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Bottom-injection points shift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upward (worse mixing) with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no leftward shift (no ΔP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benefit)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No bottom-injection case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    reaches CoV ≤ 0.05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▸  30° top dominates the front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Pressure Drop: Not a Differentiator</a:t>
            </a:r>
          </a:p>
        </p:txBody>
      </p:sp>
      <p:pic>
        <p:nvPicPr>
          <p:cNvPr id="3" name="Picture 2" descr="fig11_bar_median_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677450" cy="4572000"/>
          </a:xfrm>
          <a:prstGeom prst="rect">
            <a:avLst/>
          </a:prstGeom>
        </p:spPr>
      </p:pic>
      <p:pic>
        <p:nvPicPr>
          <p:cNvPr id="4" name="Picture 3" descr="fig9_acoustic_noise_vs_V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6858000" cy="45851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▸  All 4 medians within ~1 kPa — ΔP is not the differentiator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▸  30° tilt reduces ΔP by ~50% (classical turning-loss reduction, Idelchik)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▸  Acoustic noise: top-injection → quieter at high VR (well-mixed pipe); bottom → louder (density gradients scatter waves)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Design-Space Heatmap &amp; Executive Summary</a:t>
            </a:r>
          </a:p>
        </p:txBody>
      </p:sp>
      <p:pic>
        <p:nvPicPr>
          <p:cNvPr id="3" name="Picture 2" descr="fig4_heatmap_C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6858000" cy="5767097"/>
          </a:xfrm>
          <a:prstGeom prst="rect">
            <a:avLst/>
          </a:prstGeom>
        </p:spPr>
      </p:pic>
      <p:pic>
        <p:nvPicPr>
          <p:cNvPr id="4" name="Picture 3" descr="fig5_bar_median_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88720"/>
            <a:ext cx="4754880" cy="34823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▸  Bottom row uniformly darker (worse) than top row at every (d/D, VR)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▸  30° top: best median (0.298); 30° bottom: worst (1.048)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▸  d/D effect is secondary: larger d/D mildly improves mixing (consistent with Su et al. 2022)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Conclusions &amp; Practical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 Always inject from the TOP, not the bottom.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→ Bottom injection degrades CoV by 2–4× at every matched point,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   with no pressure-drop benefit.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 Use a tilted branch (30°) rather than 90° for top injection.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→ 30° top: best mixing (CoV = 0.005) and lowest ΔP (50% less than 90°).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3.  Maximise velocity ratio (VR ≥ 2.5).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→ VR is the single strongest lever; CoV ~ VR^(−1.2 to −1.9) for top injection.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4.  d/D is a secondary parameter (0.20–0.45 range).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→ Matters mainly through coupling with VR via the HBR constraint.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5.  Physical mechanism validated by acoustic noise correlation: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→ Well-mixed pipes are acoustically quiet (σ_ΔP drops with VR for top injection).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Outlook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Re-fit surrogate-MOO (neural network + NSGA-II) on the full 40-case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  4-campaign dataset for a (d/D, VR, α, side) Pareto front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Helical static mixer downstream of 30° top best-case to test whether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  a compact mixing length (&lt; 5D) is achievable at low ΔP penalty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Extend to steady RANS (rhoSimpleFoam) or longer transients (~5s) to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  reduce LP-filter uncertainty from ±0.5 kPa to ±0.05 kPa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▸  Validate at higher Re_D (u_main = 15 m/s, industrial gas pipeline velocity)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All code, data, and figures available at: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github.com/Yash04dsr/CFD-Setup-instructions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